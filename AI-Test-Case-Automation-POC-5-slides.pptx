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3913f4de-1ebc-167a-faa6-5aa24ff0b9a3}">
          <p14:sldIdLst>
            <p14:sldId id="256"/>
          </p14:sldIdLst>
        </p14:section>
        <p14:section name="Approach" id="{2449a9f9-6c3e-2721-a126-4cfa20c2b86a}">
          <p14:sldIdLst>
            <p14:sldId id="257"/>
            <p14:sldId id="258"/>
          </p14:sldIdLst>
        </p14:section>
        <p14:section name="Results" id="{dcfd9583-70a3-47cb-e22d-09763999f2aa}">
          <p14:sldIdLst>
            <p14:sldId id="259"/>
          </p14:sldIdLst>
        </p14:section>
        <p14:section name="Next steps" id="{52d095c6-a2f3-d775-20ef-109cb36e5f50}">
          <p14:sldIdLst>
            <p14:sldId id="2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E2761"/>
                </a:solidFill>
                <a:latin typeface="+mn-lt"/>
              </a:defRPr>
            </a:pPr>
            <a:r>
              <a:rPr sz="1400" b="0" i="0" u="none" strike="noStrike">
                <a:solidFill>
                  <a:srgbClr val="1E2761"/>
                </a:solidFill>
                <a:latin typeface="+mn-lt"/>
              </a:rPr>
              <a:t>Hours to create 50 test cases</a:t>
            </a:r>
          </a:p>
        </c:rich>
      </c:tx>
      <c:layout/>
      <c:overlay val="0"/>
    </c:title>
    <c:autoTitleDeleted val="0"/>
    <c:plotArea>
      <c:layout/>
      <c:barChart>
        <c:barDir val="col"/>
        <c:grouping val="clustered"/>
        <c:varyColors val="0"/>
        <c:ser>
          <c:idx val="0"/>
          <c:order val="0"/>
          <c:tx>
            <c:strRef>
              <c:f>Sheet1!$B$1</c:f>
              <c:strCache>
                <c:ptCount val="1"/>
                <c:pt idx="0">
                  <c:v>Hours to create 50 test cases</c:v>
                </c:pt>
              </c:strCache>
            </c:strRef>
          </c:tx>
          <c:spPr>
            <a:solidFill>
              <a:srgbClr val="8FB8DE"/>
            </a:solidFill>
            <a:effectLst/>
          </c:spPr>
          <c:invertIfNegative val="0"/>
          <c:dLbls>
            <c:numFmt formatCode="0.0" sourceLinked="0"/>
            <c:txPr>
              <a:bodyPr/>
              <a:lstStyle/>
              <a:p>
                <a:pPr>
                  <a:defRPr b="0" i="0" strike="noStrike" sz="1400" u="none">
                    <a:solidFill>
                      <a:srgbClr val="1E2761"/>
                    </a:solidFill>
                    <a:latin typeface="+mn-lt"/>
                  </a:defRPr>
                </a:pPr>
              </a:p>
            </c:txPr>
            <c:showLegendKey val="0"/>
            <c:showVal val="1"/>
            <c:showCatName val="0"/>
            <c:showSerName val="0"/>
            <c:showPercent val="0"/>
            <c:showBubbleSize val="0"/>
            <c:showLeaderLines val="0"/>
          </c:dLbls>
          <c:dPt>
            <c:idx val="0"/>
            <c:invertIfNegative val="0"/>
            <c:bubble3D val="0"/>
            <c:spPr>
              <a:solidFill>
                <a:srgbClr val="8FB8DE"/>
              </a:solidFill>
              <a:effectLst/>
            </c:spPr>
          </c:dPt>
          <c:dPt>
            <c:idx val="1"/>
            <c:invertIfNegative val="0"/>
            <c:bubble3D val="0"/>
            <c:spPr>
              <a:solidFill>
                <a:srgbClr val="1E2761"/>
              </a:solidFill>
              <a:effectLst/>
            </c:spPr>
          </c:dPt>
          <c:cat>
            <c:multiLvlStrRef>
              <c:f>Sheet1!$A$2:$A$3</c:f>
              <c:multiLvlStrCache>
                <c:ptCount val="2"/>
                <c:lvl>
                  <c:pt idx="0">
                    <c:v>Manual entry</c:v>
                  </c:pt>
                  <c:pt idx="1">
                    <c:v>AI-assisted</c:v>
                  </c:pt>
                </c:lvl>
              </c:multiLvlStrCache>
            </c:multiLvlStrRef>
          </c:cat>
          <c:val>
            <c:numRef>
              <c:f>Sheet1!$B$2:$B$3</c:f>
              <c:numCache>
                <c:formatCode>General</c:formatCode>
                <c:ptCount val="2"/>
                <c:pt idx="0">
                  <c:v>6.7</c:v>
                </c:pt>
                <c:pt idx="1">
                  <c:v>1.7</c:v>
                </c:pt>
              </c:numCache>
            </c:numRef>
          </c:val>
        </c:ser>
        <c:dLbls>
          <c:numFmt formatCode="0.0" sourceLinked="0"/>
          <c:txPr>
            <a:bodyPr/>
            <a:lstStyle/>
            <a:p>
              <a:pPr>
                <a:defRPr b="0" i="0" strike="noStrike" sz="1400" u="none">
                  <a:solidFill>
                    <a:srgbClr val="1E2761"/>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5B6B8C"/>
                </a:solidFill>
                <a:latin typeface="+mn-lt"/>
              </a:defRPr>
            </a:pPr>
            <a:endParaRPr lang="en-US"/>
          </a:p>
        </c:txPr>
        <c:crossAx val="2094734552"/>
        <c:crosses val="autoZero"/>
        <c:auto val="1"/>
        <c:lblAlgn val="ctr"/>
        <c:noMultiLvlLbl val="1"/>
      </c:catAx>
      <c:valAx>
        <c:axId val="2094734552"/>
        <c:scaling>
          <c:orientation val="minMax"/>
          <c:max val="8"/>
          <c:min val="0"/>
        </c:scaling>
        <c:delete val="0"/>
        <c:axPos val="l"/>
        <c:majorGridlines>
          <c:spPr>
            <a:ln w="12700" cap="flat">
              <a:solidFill>
                <a:srgbClr val="E3E7EF"/>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B8C"/>
                </a:solidFill>
                <a:latin typeface="+mn-lt"/>
              </a:defRPr>
            </a:pPr>
            <a:endParaRPr lang="en-US"/>
          </a:p>
        </c:txPr>
        <c:crossAx val="2094734554"/>
        <c:crosses val="autoZero"/>
        <c:crossBetween val="between"/>
        <c:majorUnit val="2"/>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Goal of this POC: show that test scenarios already defined in Excel can be turned into Trackspace test cases by an AI agent, without typing each case and its steps by hand. The POC covered 50+ test cases across two scenario sheets.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point: the AI does not design scenarios. The scenarios are already defined in the Excel matrix; the AI only transforms them into the standard Trackspace format using one fixed test 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the review stage: nothing is written to Trackspace until a human has seen the full dry run (title, description and all steps for each row) and approved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Actual timings: the first 2 cases took about 1 hour (pilot, including setup and fixing issues found along the way); the remaining 48 took about 20 minutes after the dry run, so roughly 1.3 hours in total for 50 cases. The manual figure is an estimate (about 8 minutes per case, roughly 6.7 hours for 50), so the ~80% is a comparison against that estimate. The 20 minutes excludes dry-run review time for the 48 cases, which stakeholders may ask about. Note: the chart bars still show the earlier estimate (6.7 vs 1.7 hours) and have not been updated to the actual ~1.3 hours.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open about the issues found during the POC (malformed JSON in Excel, a duplicate-check flaw). They were caught by the guardrails and the review steps, which is the argument for keeping the human review gate in place as this is scaled to other scenarios.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1920240"/>
            <a:ext cx="6309360" cy="1920240"/>
          </a:xfrm>
          <a:prstGeom prst="rect">
            <a:avLst/>
          </a:prstGeom>
          <a:noFill/>
          <a:ln/>
        </p:spPr>
        <p:txBody>
          <a:bodyPr wrap="square" rtlCol="0"/>
          <a:lstStyle>
            <a:lvl1pPr algn="l" indent="0" marL="0">
              <a:buNone/>
              <a:defRPr lang="en-US" sz="4200" b="1" dirty="0">
                <a:solidFill>
                  <a:schemeClr val="bg1"/>
                </a:solidFill>
              </a:defRPr>
            </a:lvl1pPr>
          </a:lstStyle>
          <a:p>
            <a:pPr algn="l" indent="0" marL="0">
              <a:buNone/>
            </a:pPr>
            <a:endParaRPr lang="en-US" sz="4200" dirty="0"/>
          </a:p>
        </p:txBody>
      </p:sp>
      <p:sp>
        <p:nvSpPr>
          <p:cNvPr id="3" name="Text 0"/>
          <p:cNvSpPr/>
          <p:nvPr>
            <p:ph idx="101" type="body" hasCustomPrompt="1"/>
          </p:nvPr>
        </p:nvSpPr>
        <p:spPr>
          <a:xfrm>
            <a:off x="822960" y="4069080"/>
            <a:ext cx="6309360" cy="1097280"/>
          </a:xfrm>
          <a:prstGeom prst="rect">
            <a:avLst/>
          </a:prstGeom>
          <a:noFill/>
          <a:ln/>
        </p:spPr>
        <p:txBody>
          <a:bodyPr wrap="square" rtlCol="0"/>
          <a:lstStyle>
            <a:lvl1pPr indent="0" marL="0">
              <a:buNone/>
              <a:defRPr lang="en-US" sz="2000" dirty="0">
                <a:solidFill>
                  <a:schemeClr val="accent3"/>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LIGH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73152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3" name="Text 0"/>
          <p:cNvSpPr/>
          <p:nvPr>
            <p:ph idx="101" type="body" hasCustomPrompt="1"/>
          </p:nvPr>
        </p:nvSpPr>
        <p:spPr>
          <a:xfrm>
            <a:off x="640080" y="1188720"/>
            <a:ext cx="10881360" cy="411480"/>
          </a:xfrm>
          <a:prstGeom prst="rect">
            <a:avLst/>
          </a:prstGeom>
          <a:noFill/>
          <a:ln/>
        </p:spPr>
        <p:txBody>
          <a:bodyPr wrap="square" rtlCol="0"/>
          <a:lstStyle>
            <a:lvl1pPr indent="0" marL="0">
              <a:buNone/>
              <a:defRPr lang="en-US" sz="1600" dirty="0">
                <a:solidFill>
                  <a:schemeClr val="tx2"/>
                </a:solidFill>
              </a:defRPr>
            </a:lvl1pPr>
          </a:lstStyle>
          <a:p>
            <a:pPr indent="0" marL="0">
              <a:buNone/>
            </a:pPr>
            <a:endParaRPr lang="en-US" sz="16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73152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3" name="Text 0"/>
          <p:cNvSpPr/>
          <p:nvPr>
            <p:ph idx="101" type="body" hasCustomPrompt="1"/>
          </p:nvPr>
        </p:nvSpPr>
        <p:spPr>
          <a:xfrm>
            <a:off x="640080" y="1188720"/>
            <a:ext cx="10881360" cy="411480"/>
          </a:xfrm>
          <a:prstGeom prst="rect">
            <a:avLst/>
          </a:prstGeom>
          <a:noFill/>
          <a:ln/>
        </p:spPr>
        <p:txBody>
          <a:bodyPr wrap="square" rtlCol="0"/>
          <a:lstStyle>
            <a:lvl1pPr indent="0" marL="0">
              <a:buNone/>
              <a:defRPr lang="en-US" sz="1600" dirty="0">
                <a:solidFill>
                  <a:schemeClr val="accent3"/>
                </a:solidFill>
              </a:defRPr>
            </a:lvl1pPr>
          </a:lstStyle>
          <a:p>
            <a:pPr indent="0" marL="0">
              <a:buNone/>
            </a:pPr>
            <a:endParaRPr lang="en-US" sz="16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822960" y="1920240"/>
            <a:ext cx="6309360" cy="1920240"/>
          </a:xfrm>
          <a:prstGeom prst="rect">
            <a:avLst/>
          </a:prstGeom>
          <a:noFill/>
          <a:ln/>
        </p:spPr>
        <p:txBody>
          <a:bodyPr wrap="square" lIns="0" tIns="0" rIns="0" bIns="0" rtlCol="0" anchor="b"/>
          <a:lstStyle/>
          <a:p>
            <a:pPr algn="l" indent="0" marL="0">
              <a:buNone/>
            </a:pPr>
            <a:r>
              <a:rPr lang="en-US" sz="4200" b="1" dirty="0">
                <a:solidFill>
                  <a:schemeClr val="bg1"/>
                </a:solidFill>
              </a:rPr>
              <a:t>AI-Assisted Test Case Creation</a:t>
            </a:r>
            <a:endParaRPr lang="en-US" sz="4200" dirty="0"/>
          </a:p>
        </p:txBody>
      </p:sp>
      <p:sp>
        <p:nvSpPr>
          <p:cNvPr id="3" name="Text 0"/>
          <p:cNvSpPr/>
          <p:nvPr>
            <p:ph idx="101" type="body" hasCustomPrompt="1"/>
          </p:nvPr>
        </p:nvSpPr>
        <p:spPr>
          <a:xfrm>
            <a:off x="822960" y="4069080"/>
            <a:ext cx="6309360" cy="1097280"/>
          </a:xfrm>
          <a:prstGeom prst="rect">
            <a:avLst/>
          </a:prstGeom>
          <a:noFill/>
          <a:ln/>
        </p:spPr>
        <p:txBody>
          <a:bodyPr wrap="square" lIns="0" tIns="0" rIns="0" bIns="0" rtlCol="0" anchor="t"/>
          <a:lstStyle/>
          <a:p>
            <a:pPr indent="0" marL="0">
              <a:buNone/>
            </a:pPr>
            <a:r>
              <a:rPr lang="en-US" sz="2000" dirty="0">
                <a:solidFill>
                  <a:schemeClr val="accent3"/>
                </a:solidFill>
              </a:rPr>
              <a:t>Proof of concept: from an Excel scenario matrix to Trackspace test cases</a:t>
            </a:r>
            <a:endParaRPr lang="en-US" sz="2000" dirty="0"/>
          </a:p>
        </p:txBody>
      </p:sp>
      <p:sp>
        <p:nvSpPr>
          <p:cNvPr id="4" name="Caption"/>
          <p:cNvSpPr txBox="1"/>
          <p:nvPr/>
        </p:nvSpPr>
        <p:spPr>
          <a:xfrm>
            <a:off x="822960" y="5852160"/>
            <a:ext cx="6309360" cy="365760"/>
          </a:xfrm>
          <a:prstGeom prst="rect">
            <a:avLst/>
          </a:prstGeom>
          <a:noFill/>
          <a:ln/>
        </p:spPr>
        <p:txBody>
          <a:bodyPr wrap="square" lIns="0" tIns="0" rIns="0" bIns="0" rtlCol="0" anchor="ctr"/>
          <a:lstStyle/>
          <a:p>
            <a:pPr indent="0" marL="0">
              <a:buNone/>
            </a:pPr>
            <a:r>
              <a:rPr lang="en-US" sz="1200" dirty="0">
                <a:solidFill>
                  <a:schemeClr val="accent3"/>
                </a:solidFill>
              </a:rPr>
              <a:t>QA Automation  |  Stakeholder Review</a:t>
            </a:r>
            <a:endParaRPr lang="en-US" sz="1200" dirty="0"/>
          </a:p>
        </p:txBody>
      </p:sp>
      <p:sp>
        <p:nvSpPr>
          <p:cNvPr id="5" name="Chip 1"/>
          <p:cNvSpPr/>
          <p:nvPr/>
        </p:nvSpPr>
        <p:spPr>
          <a:xfrm>
            <a:off x="7863840" y="1463040"/>
            <a:ext cx="3657600" cy="1097280"/>
          </a:xfrm>
          <a:prstGeom prst="roundRect">
            <a:avLst>
              <a:gd name="adj" fmla="val 10000"/>
            </a:avLst>
          </a:prstGeom>
          <a:solidFill>
            <a:schemeClr val="accent4"/>
          </a:solidFill>
          <a:ln/>
        </p:spPr>
      </p:sp>
      <p:sp>
        <p:nvSpPr>
          <p:cNvPr id="6" name="Chip 1 title"/>
          <p:cNvSpPr txBox="1"/>
          <p:nvPr/>
        </p:nvSpPr>
        <p:spPr>
          <a:xfrm>
            <a:off x="8138160" y="1645920"/>
            <a:ext cx="3108960" cy="365760"/>
          </a:xfrm>
          <a:prstGeom prst="rect">
            <a:avLst/>
          </a:prstGeom>
          <a:noFill/>
          <a:ln/>
        </p:spPr>
        <p:txBody>
          <a:bodyPr wrap="square" lIns="0" tIns="0" rIns="0" bIns="0" rtlCol="0" anchor="ctr"/>
          <a:lstStyle/>
          <a:p>
            <a:pPr indent="0" marL="0">
              <a:buNone/>
            </a:pPr>
            <a:r>
              <a:rPr lang="en-US" sz="1800" b="1" dirty="0">
                <a:solidFill>
                  <a:schemeClr val="bg1"/>
                </a:solidFill>
              </a:rPr>
              <a:t>Excel scenario matrix</a:t>
            </a:r>
            <a:endParaRPr lang="en-US" sz="1800" dirty="0"/>
          </a:p>
        </p:txBody>
      </p:sp>
      <p:sp>
        <p:nvSpPr>
          <p:cNvPr id="7" name="Chip 1 caption"/>
          <p:cNvSpPr txBox="1"/>
          <p:nvPr/>
        </p:nvSpPr>
        <p:spPr>
          <a:xfrm>
            <a:off x="8138160" y="2057400"/>
            <a:ext cx="3108960" cy="320040"/>
          </a:xfrm>
          <a:prstGeom prst="rect">
            <a:avLst/>
          </a:prstGeom>
          <a:noFill/>
          <a:ln/>
        </p:spPr>
        <p:txBody>
          <a:bodyPr wrap="square" lIns="0" tIns="0" rIns="0" bIns="0" rtlCol="0" anchor="ctr"/>
          <a:lstStyle/>
          <a:p>
            <a:pPr indent="0" marL="0">
              <a:buNone/>
            </a:pPr>
            <a:r>
              <a:rPr lang="en-US" sz="1400" dirty="0">
                <a:solidFill>
                  <a:schemeClr val="accent3"/>
                </a:solidFill>
              </a:rPr>
              <a:t>one row per scenario</a:t>
            </a:r>
            <a:endParaRPr lang="en-US" sz="1400" dirty="0"/>
          </a:p>
        </p:txBody>
      </p:sp>
      <p:sp>
        <p:nvSpPr>
          <p:cNvPr id="8" name="Chip arrow 1"/>
          <p:cNvSpPr txBox="1"/>
          <p:nvPr/>
        </p:nvSpPr>
        <p:spPr>
          <a:xfrm>
            <a:off x="7863840" y="2578608"/>
            <a:ext cx="3657600" cy="365760"/>
          </a:xfrm>
          <a:prstGeom prst="rect">
            <a:avLst/>
          </a:prstGeom>
          <a:noFill/>
          <a:ln/>
        </p:spPr>
        <p:txBody>
          <a:bodyPr wrap="square" lIns="0" tIns="0" rIns="0" bIns="0" rtlCol="0" anchor="ctr"/>
          <a:lstStyle/>
          <a:p>
            <a:pPr algn="ctr" indent="0" marL="0">
              <a:buNone/>
            </a:pPr>
            <a:r>
              <a:rPr lang="en-US" sz="2000" b="1" dirty="0">
                <a:solidFill>
                  <a:schemeClr val="accent6"/>
                </a:solidFill>
              </a:rPr>
              <a:t>↓</a:t>
            </a:r>
            <a:endParaRPr lang="en-US" sz="2000" dirty="0"/>
          </a:p>
        </p:txBody>
      </p:sp>
      <p:sp>
        <p:nvSpPr>
          <p:cNvPr id="9" name="Chip 2"/>
          <p:cNvSpPr/>
          <p:nvPr/>
        </p:nvSpPr>
        <p:spPr>
          <a:xfrm>
            <a:off x="7863840" y="2971800"/>
            <a:ext cx="3657600" cy="1097280"/>
          </a:xfrm>
          <a:prstGeom prst="roundRect">
            <a:avLst>
              <a:gd name="adj" fmla="val 10000"/>
            </a:avLst>
          </a:prstGeom>
          <a:solidFill>
            <a:schemeClr val="accent4"/>
          </a:solidFill>
          <a:ln/>
        </p:spPr>
      </p:sp>
      <p:sp>
        <p:nvSpPr>
          <p:cNvPr id="10" name="Chip 2 title"/>
          <p:cNvSpPr txBox="1"/>
          <p:nvPr/>
        </p:nvSpPr>
        <p:spPr>
          <a:xfrm>
            <a:off x="8138160" y="3154680"/>
            <a:ext cx="3108960" cy="365760"/>
          </a:xfrm>
          <a:prstGeom prst="rect">
            <a:avLst/>
          </a:prstGeom>
          <a:noFill/>
          <a:ln/>
        </p:spPr>
        <p:txBody>
          <a:bodyPr wrap="square" lIns="0" tIns="0" rIns="0" bIns="0" rtlCol="0" anchor="ctr"/>
          <a:lstStyle/>
          <a:p>
            <a:pPr indent="0" marL="0">
              <a:buNone/>
            </a:pPr>
            <a:r>
              <a:rPr lang="en-US" sz="1800" b="1" dirty="0">
                <a:solidFill>
                  <a:schemeClr val="bg1"/>
                </a:solidFill>
              </a:rPr>
              <a:t>AI agent + skill file</a:t>
            </a:r>
            <a:endParaRPr lang="en-US" sz="1800" dirty="0"/>
          </a:p>
        </p:txBody>
      </p:sp>
      <p:sp>
        <p:nvSpPr>
          <p:cNvPr id="11" name="Chip 2 caption"/>
          <p:cNvSpPr txBox="1"/>
          <p:nvPr/>
        </p:nvSpPr>
        <p:spPr>
          <a:xfrm>
            <a:off x="8138160" y="3566160"/>
            <a:ext cx="3108960" cy="320040"/>
          </a:xfrm>
          <a:prstGeom prst="rect">
            <a:avLst/>
          </a:prstGeom>
          <a:noFill/>
          <a:ln/>
        </p:spPr>
        <p:txBody>
          <a:bodyPr wrap="square" lIns="0" tIns="0" rIns="0" bIns="0" rtlCol="0" anchor="ctr"/>
          <a:lstStyle/>
          <a:p>
            <a:pPr indent="0" marL="0">
              <a:buNone/>
            </a:pPr>
            <a:r>
              <a:rPr lang="en-US" sz="1400" dirty="0">
                <a:solidFill>
                  <a:schemeClr val="accent3"/>
                </a:solidFill>
              </a:rPr>
              <a:t>fixed flow, nothing invented</a:t>
            </a:r>
            <a:endParaRPr lang="en-US" sz="1400" dirty="0"/>
          </a:p>
        </p:txBody>
      </p:sp>
      <p:sp>
        <p:nvSpPr>
          <p:cNvPr id="12" name="Chip arrow 2"/>
          <p:cNvSpPr txBox="1"/>
          <p:nvPr/>
        </p:nvSpPr>
        <p:spPr>
          <a:xfrm>
            <a:off x="7863840" y="4087368"/>
            <a:ext cx="3657600" cy="365760"/>
          </a:xfrm>
          <a:prstGeom prst="rect">
            <a:avLst/>
          </a:prstGeom>
          <a:noFill/>
          <a:ln/>
        </p:spPr>
        <p:txBody>
          <a:bodyPr wrap="square" lIns="0" tIns="0" rIns="0" bIns="0" rtlCol="0" anchor="ctr"/>
          <a:lstStyle/>
          <a:p>
            <a:pPr algn="ctr" indent="0" marL="0">
              <a:buNone/>
            </a:pPr>
            <a:r>
              <a:rPr lang="en-US" sz="2000" b="1" dirty="0">
                <a:solidFill>
                  <a:schemeClr val="accent6"/>
                </a:solidFill>
              </a:rPr>
              <a:t>↓</a:t>
            </a:r>
            <a:endParaRPr lang="en-US" sz="2000" dirty="0"/>
          </a:p>
        </p:txBody>
      </p:sp>
      <p:sp>
        <p:nvSpPr>
          <p:cNvPr id="13" name="Chip 3"/>
          <p:cNvSpPr/>
          <p:nvPr/>
        </p:nvSpPr>
        <p:spPr>
          <a:xfrm>
            <a:off x="7863840" y="4480560"/>
            <a:ext cx="3657600" cy="1097280"/>
          </a:xfrm>
          <a:prstGeom prst="roundRect">
            <a:avLst>
              <a:gd name="adj" fmla="val 10000"/>
            </a:avLst>
          </a:prstGeom>
          <a:solidFill>
            <a:schemeClr val="accent4"/>
          </a:solidFill>
          <a:ln/>
        </p:spPr>
      </p:sp>
      <p:sp>
        <p:nvSpPr>
          <p:cNvPr id="14" name="Chip 3 title"/>
          <p:cNvSpPr txBox="1"/>
          <p:nvPr/>
        </p:nvSpPr>
        <p:spPr>
          <a:xfrm>
            <a:off x="8138160" y="4663440"/>
            <a:ext cx="3108960" cy="365760"/>
          </a:xfrm>
          <a:prstGeom prst="rect">
            <a:avLst/>
          </a:prstGeom>
          <a:noFill/>
          <a:ln/>
        </p:spPr>
        <p:txBody>
          <a:bodyPr wrap="square" lIns="0" tIns="0" rIns="0" bIns="0" rtlCol="0" anchor="ctr"/>
          <a:lstStyle/>
          <a:p>
            <a:pPr indent="0" marL="0">
              <a:buNone/>
            </a:pPr>
            <a:r>
              <a:rPr lang="en-US" sz="1800" b="1" dirty="0">
                <a:solidFill>
                  <a:schemeClr val="bg1"/>
                </a:solidFill>
              </a:rPr>
              <a:t>Trackspace test cases</a:t>
            </a:r>
            <a:endParaRPr lang="en-US" sz="1800" dirty="0"/>
          </a:p>
        </p:txBody>
      </p:sp>
      <p:sp>
        <p:nvSpPr>
          <p:cNvPr id="15" name="Chip 3 caption"/>
          <p:cNvSpPr txBox="1"/>
          <p:nvPr/>
        </p:nvSpPr>
        <p:spPr>
          <a:xfrm>
            <a:off x="8138160" y="5074920"/>
            <a:ext cx="3108960" cy="320040"/>
          </a:xfrm>
          <a:prstGeom prst="rect">
            <a:avLst/>
          </a:prstGeom>
          <a:noFill/>
          <a:ln/>
        </p:spPr>
        <p:txBody>
          <a:bodyPr wrap="square" lIns="0" tIns="0" rIns="0" bIns="0" rtlCol="0" anchor="ctr"/>
          <a:lstStyle/>
          <a:p>
            <a:pPr indent="0" marL="0">
              <a:buNone/>
            </a:pPr>
            <a:r>
              <a:rPr lang="en-US" sz="1400" dirty="0">
                <a:solidFill>
                  <a:schemeClr val="accent3"/>
                </a:solidFill>
              </a:rPr>
              <a:t>steps, assignee, folder</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731520"/>
          </a:xfrm>
          <a:prstGeom prst="rect">
            <a:avLst/>
          </a:prstGeom>
          <a:noFill/>
          <a:ln/>
        </p:spPr>
        <p:txBody>
          <a:bodyPr wrap="square" lIns="0" tIns="0" rIns="0" bIns="0" rtlCol="0" anchor="ctr"/>
          <a:lstStyle/>
          <a:p>
            <a:pPr algn="l" indent="0" marL="0">
              <a:buNone/>
            </a:pPr>
            <a:r>
              <a:rPr lang="en-US" sz="3600" b="1" dirty="0">
                <a:solidFill>
                  <a:schemeClr val="tx1"/>
                </a:solidFill>
              </a:rPr>
              <a:t>From Manual Entry to AI-Assisted</a:t>
            </a:r>
            <a:endParaRPr lang="en-US" sz="3600" dirty="0"/>
          </a:p>
        </p:txBody>
      </p:sp>
      <p:sp>
        <p:nvSpPr>
          <p:cNvPr id="3" name="Text 0"/>
          <p:cNvSpPr/>
          <p:nvPr>
            <p:ph idx="101" type="body" hasCustomPrompt="1"/>
          </p:nvPr>
        </p:nvSpPr>
        <p:spPr>
          <a:xfrm>
            <a:off x="640080" y="1188720"/>
            <a:ext cx="10881360" cy="411480"/>
          </a:xfrm>
          <a:prstGeom prst="rect">
            <a:avLst/>
          </a:prstGeom>
          <a:noFill/>
          <a:ln/>
        </p:spPr>
        <p:txBody>
          <a:bodyPr wrap="square" lIns="0" tIns="0" rIns="0" bIns="0" rtlCol="0" anchor="t"/>
          <a:lstStyle/>
          <a:p>
            <a:pPr indent="0" marL="0">
              <a:buNone/>
            </a:pPr>
            <a:r>
              <a:rPr lang="en-US" sz="1600" dirty="0">
                <a:solidFill>
                  <a:schemeClr val="tx2"/>
                </a:solidFill>
              </a:rPr>
              <a:t>Same fields, same structure — created in one reviewed pass instead of by hand</a:t>
            </a:r>
            <a:endParaRPr lang="en-US" sz="1600" dirty="0"/>
          </a:p>
        </p:txBody>
      </p:sp>
      <p:sp>
        <p:nvSpPr>
          <p:cNvPr id="4" name="Manual card"/>
          <p:cNvSpPr/>
          <p:nvPr/>
        </p:nvSpPr>
        <p:spPr>
          <a:xfrm>
            <a:off x="640080" y="2011680"/>
            <a:ext cx="5212080" cy="4023360"/>
          </a:xfrm>
          <a:prstGeom prst="roundRect">
            <a:avLst>
              <a:gd name="adj" fmla="val 2273"/>
            </a:avLst>
          </a:prstGeom>
          <a:solidFill>
            <a:schemeClr val="bg2"/>
          </a:solidFill>
          <a:ln/>
        </p:spPr>
      </p:sp>
      <p:sp>
        <p:nvSpPr>
          <p:cNvPr id="5" name="Manual heading"/>
          <p:cNvSpPr txBox="1"/>
          <p:nvPr/>
        </p:nvSpPr>
        <p:spPr>
          <a:xfrm>
            <a:off x="1005840" y="2286000"/>
            <a:ext cx="4480560" cy="457200"/>
          </a:xfrm>
          <a:prstGeom prst="rect">
            <a:avLst/>
          </a:prstGeom>
          <a:noFill/>
          <a:ln/>
        </p:spPr>
        <p:txBody>
          <a:bodyPr wrap="square" lIns="0" tIns="0" rIns="0" bIns="0" rtlCol="0" anchor="ctr"/>
          <a:lstStyle/>
          <a:p>
            <a:pPr indent="0" marL="0">
              <a:buNone/>
            </a:pPr>
            <a:r>
              <a:rPr lang="en-US" sz="2200" b="1" dirty="0">
                <a:solidFill>
                  <a:schemeClr val="tx1"/>
                </a:solidFill>
              </a:rPr>
              <a:t>Before: manual entry</a:t>
            </a:r>
            <a:endParaRPr lang="en-US" sz="2200" dirty="0"/>
          </a:p>
        </p:txBody>
      </p:sp>
      <p:sp>
        <p:nvSpPr>
          <p:cNvPr id="6" name="Manual list"/>
          <p:cNvSpPr txBox="1"/>
          <p:nvPr/>
        </p:nvSpPr>
        <p:spPr>
          <a:xfrm>
            <a:off x="1005840" y="2926080"/>
            <a:ext cx="4480560" cy="2834640"/>
          </a:xfrm>
          <a:prstGeom prst="rect">
            <a:avLst/>
          </a:prstGeom>
          <a:noFill/>
          <a:ln/>
        </p:spPr>
        <p:txBody>
          <a:bodyPr wrap="square" lIns="0" tIns="0" rIns="0" bIns="0" rtlCol="0" anchor="t"/>
          <a:lstStyle/>
          <a:p>
            <a:pPr marL="342900" indent="-342900">
              <a:spcAft>
                <a:spcPts val="1400"/>
              </a:spcAft>
              <a:buSzPct val="100000"/>
              <a:buChar char="•"/>
            </a:pPr>
            <a:r>
              <a:rPr lang="en-US" sz="1600" dirty="0">
                <a:solidFill>
                  <a:schemeClr val="tx1"/>
                </a:solidFill>
              </a:rPr>
              <a:t>Each case typed into the Trackspace UI by hand</a:t>
            </a:r>
            <a:endParaRPr lang="en-US" sz="1600" dirty="0"/>
          </a:p>
          <a:p>
            <a:pPr marL="342900" indent="-342900">
              <a:spcAft>
                <a:spcPts val="1400"/>
              </a:spcAft>
              <a:buSzPct val="100000"/>
              <a:buChar char="•"/>
            </a:pPr>
            <a:r>
              <a:rPr lang="en-US" sz="1600" dirty="0">
                <a:solidFill>
                  <a:schemeClr val="tx1"/>
                </a:solidFill>
              </a:rPr>
              <a:t>Summary, description, 4 steps, assignee and folder — repeated 50+ times</a:t>
            </a:r>
            <a:endParaRPr lang="en-US" sz="1600" dirty="0"/>
          </a:p>
          <a:p>
            <a:pPr marL="342900" indent="-342900">
              <a:spcAft>
                <a:spcPts val="1400"/>
              </a:spcAft>
              <a:buSzPct val="100000"/>
              <a:buChar char="•"/>
            </a:pPr>
            <a:r>
              <a:rPr lang="en-US" sz="1600" dirty="0">
                <a:solidFill>
                  <a:schemeClr val="tx1"/>
                </a:solidFill>
              </a:rPr>
              <a:t>Wording and structure drift between testers</a:t>
            </a:r>
            <a:endParaRPr lang="en-US" sz="1600" dirty="0"/>
          </a:p>
          <a:p>
            <a:pPr marL="342900" indent="-342900">
              <a:spcAft>
                <a:spcPts val="1400"/>
              </a:spcAft>
              <a:buSzPct val="100000"/>
              <a:buChar char="•"/>
            </a:pPr>
            <a:r>
              <a:rPr lang="en-US" sz="1600" dirty="0">
                <a:solidFill>
                  <a:schemeClr val="tx1"/>
                </a:solidFill>
              </a:rPr>
              <a:t>QA time goes to clerical entry, not testing</a:t>
            </a:r>
            <a:endParaRPr lang="en-US" sz="1600" dirty="0"/>
          </a:p>
        </p:txBody>
      </p:sp>
      <p:sp>
        <p:nvSpPr>
          <p:cNvPr id="7" name="AI card"/>
          <p:cNvSpPr/>
          <p:nvPr/>
        </p:nvSpPr>
        <p:spPr>
          <a:xfrm>
            <a:off x="6309360" y="2011680"/>
            <a:ext cx="5212080" cy="4023360"/>
          </a:xfrm>
          <a:prstGeom prst="roundRect">
            <a:avLst>
              <a:gd name="adj" fmla="val 2273"/>
            </a:avLst>
          </a:prstGeom>
          <a:solidFill>
            <a:schemeClr val="tx1"/>
          </a:solidFill>
          <a:ln/>
        </p:spPr>
      </p:sp>
      <p:sp>
        <p:nvSpPr>
          <p:cNvPr id="8" name="AI heading"/>
          <p:cNvSpPr txBox="1"/>
          <p:nvPr/>
        </p:nvSpPr>
        <p:spPr>
          <a:xfrm>
            <a:off x="6675120" y="2286000"/>
            <a:ext cx="4480560" cy="457200"/>
          </a:xfrm>
          <a:prstGeom prst="rect">
            <a:avLst/>
          </a:prstGeom>
          <a:noFill/>
          <a:ln/>
        </p:spPr>
        <p:txBody>
          <a:bodyPr wrap="square" lIns="0" tIns="0" rIns="0" bIns="0" rtlCol="0" anchor="ctr"/>
          <a:lstStyle/>
          <a:p>
            <a:pPr indent="0" marL="0">
              <a:buNone/>
            </a:pPr>
            <a:r>
              <a:rPr lang="en-US" sz="2200" b="1" dirty="0">
                <a:solidFill>
                  <a:schemeClr val="bg1"/>
                </a:solidFill>
              </a:rPr>
              <a:t>POC: AI-assisted</a:t>
            </a:r>
            <a:endParaRPr lang="en-US" sz="2200" dirty="0"/>
          </a:p>
        </p:txBody>
      </p:sp>
      <p:sp>
        <p:nvSpPr>
          <p:cNvPr id="9" name="AI list"/>
          <p:cNvSpPr txBox="1"/>
          <p:nvPr/>
        </p:nvSpPr>
        <p:spPr>
          <a:xfrm>
            <a:off x="6675120" y="2926080"/>
            <a:ext cx="4480560" cy="2834640"/>
          </a:xfrm>
          <a:prstGeom prst="rect">
            <a:avLst/>
          </a:prstGeom>
          <a:noFill/>
          <a:ln/>
        </p:spPr>
        <p:txBody>
          <a:bodyPr wrap="square" lIns="0" tIns="0" rIns="0" bIns="0" rtlCol="0" anchor="t"/>
          <a:lstStyle/>
          <a:p>
            <a:pPr marL="342900" indent="-342900">
              <a:spcAft>
                <a:spcPts val="1400"/>
              </a:spcAft>
              <a:buSzPct val="100000"/>
              <a:buChar char="•"/>
            </a:pPr>
            <a:r>
              <a:rPr lang="en-US" sz="1600" dirty="0">
                <a:solidFill>
                  <a:schemeClr val="accent3"/>
                </a:solidFill>
              </a:rPr>
              <a:t>AI agent reads each Excel row and applies one fixed 4-step flow</a:t>
            </a:r>
            <a:endParaRPr lang="en-US" sz="1600" dirty="0"/>
          </a:p>
          <a:p>
            <a:pPr marL="342900" indent="-342900">
              <a:spcAft>
                <a:spcPts val="1400"/>
              </a:spcAft>
              <a:buSzPct val="100000"/>
              <a:buChar char="•"/>
            </a:pPr>
            <a:r>
              <a:rPr lang="en-US" sz="1600" dirty="0">
                <a:solidFill>
                  <a:schemeClr val="accent3"/>
                </a:solidFill>
              </a:rPr>
              <a:t>Only scenario values change — nothing is invented</a:t>
            </a:r>
            <a:endParaRPr lang="en-US" sz="1600" dirty="0"/>
          </a:p>
          <a:p>
            <a:pPr marL="342900" indent="-342900">
              <a:spcAft>
                <a:spcPts val="1400"/>
              </a:spcAft>
              <a:buSzPct val="100000"/>
              <a:buChar char="•"/>
            </a:pPr>
            <a:r>
              <a:rPr lang="en-US" sz="1600" dirty="0">
                <a:solidFill>
                  <a:schemeClr val="accent3"/>
                </a:solidFill>
              </a:rPr>
              <a:t>A human reviews a dry run before anything is written</a:t>
            </a:r>
            <a:endParaRPr lang="en-US" sz="1600" dirty="0"/>
          </a:p>
          <a:p>
            <a:pPr marL="342900" indent="-342900">
              <a:spcAft>
                <a:spcPts val="1400"/>
              </a:spcAft>
              <a:buSzPct val="100000"/>
              <a:buChar char="•"/>
            </a:pPr>
            <a:r>
              <a:rPr lang="en-US" sz="1600" dirty="0">
                <a:solidFill>
                  <a:schemeClr val="accent3"/>
                </a:solidFill>
              </a:rPr>
              <a:t>Cases are created in Trackspace through the Xray API</a:t>
            </a:r>
            <a:endParaRPr lang="en-US" sz="1600" dirty="0"/>
          </a:p>
        </p:txBody>
      </p:sp>
      <p:sp>
        <p:nvSpPr>
          <p:cNvPr id="10" name="Between badge"/>
          <p:cNvSpPr/>
          <p:nvPr/>
        </p:nvSpPr>
        <p:spPr>
          <a:xfrm>
            <a:off x="5806440" y="3749040"/>
            <a:ext cx="548640" cy="548640"/>
          </a:xfrm>
          <a:prstGeom prst="ellipse">
            <a:avLst/>
          </a:prstGeom>
          <a:solidFill>
            <a:schemeClr val="accent2"/>
          </a:solidFill>
          <a:ln/>
        </p:spPr>
      </p:sp>
      <p:sp>
        <p:nvSpPr>
          <p:cNvPr id="11" name="Between badge label"/>
          <p:cNvSpPr txBox="1"/>
          <p:nvPr/>
        </p:nvSpPr>
        <p:spPr>
          <a:xfrm>
            <a:off x="5806440" y="3749040"/>
            <a:ext cx="548640" cy="548640"/>
          </a:xfrm>
          <a:prstGeom prst="rect">
            <a:avLst/>
          </a:prstGeom>
          <a:noFill/>
          <a:ln/>
        </p:spPr>
        <p:txBody>
          <a:bodyPr wrap="square" lIns="0" tIns="0" rIns="0" bIns="0" rtlCol="0" anchor="ctr"/>
          <a:lstStyle/>
          <a:p>
            <a:pPr algn="ctr" indent="0" marL="0">
              <a:buNone/>
            </a:pPr>
            <a:r>
              <a:rPr lang="en-US" sz="2200" b="1" dirty="0">
                <a:solidFill>
                  <a:schemeClr val="bg1"/>
                </a:solidFill>
              </a:rPr>
              <a:t>→</a:t>
            </a:r>
            <a:endParaRPr lang="en-US" sz="22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731520"/>
          </a:xfrm>
          <a:prstGeom prst="rect">
            <a:avLst/>
          </a:prstGeom>
          <a:noFill/>
          <a:ln/>
        </p:spPr>
        <p:txBody>
          <a:bodyPr wrap="square" lIns="0" tIns="0" rIns="0" bIns="0" rtlCol="0" anchor="ctr"/>
          <a:lstStyle/>
          <a:p>
            <a:pPr algn="l" indent="0" marL="0">
              <a:buNone/>
            </a:pPr>
            <a:r>
              <a:rPr lang="en-US" sz="3600" b="1" dirty="0">
                <a:solidFill>
                  <a:schemeClr val="tx1"/>
                </a:solidFill>
              </a:rPr>
              <a:t>How It Works</a:t>
            </a:r>
            <a:endParaRPr lang="en-US" sz="3600" dirty="0"/>
          </a:p>
        </p:txBody>
      </p:sp>
      <p:sp>
        <p:nvSpPr>
          <p:cNvPr id="3" name="Text 0"/>
          <p:cNvSpPr/>
          <p:nvPr>
            <p:ph idx="101" type="body" hasCustomPrompt="1"/>
          </p:nvPr>
        </p:nvSpPr>
        <p:spPr>
          <a:xfrm>
            <a:off x="640080" y="1188720"/>
            <a:ext cx="10881360" cy="411480"/>
          </a:xfrm>
          <a:prstGeom prst="rect">
            <a:avLst/>
          </a:prstGeom>
          <a:noFill/>
          <a:ln/>
        </p:spPr>
        <p:txBody>
          <a:bodyPr wrap="square" lIns="0" tIns="0" rIns="0" bIns="0" rtlCol="0" anchor="t"/>
          <a:lstStyle/>
          <a:p>
            <a:pPr indent="0" marL="0">
              <a:buNone/>
            </a:pPr>
            <a:r>
              <a:rPr lang="en-US" sz="1600" dirty="0">
                <a:solidFill>
                  <a:schemeClr val="tx2"/>
                </a:solidFill>
              </a:rPr>
              <a:t>Four stages, identical for every scenario row</a:t>
            </a:r>
            <a:endParaRPr lang="en-US" sz="1600" dirty="0"/>
          </a:p>
        </p:txBody>
      </p:sp>
      <p:sp>
        <p:nvSpPr>
          <p:cNvPr id="4" name="Stage 1 card"/>
          <p:cNvSpPr/>
          <p:nvPr/>
        </p:nvSpPr>
        <p:spPr>
          <a:xfrm>
            <a:off x="640080" y="2194560"/>
            <a:ext cx="2514600" cy="2834640"/>
          </a:xfrm>
          <a:prstGeom prst="roundRect">
            <a:avLst>
              <a:gd name="adj" fmla="val 3636"/>
            </a:avLst>
          </a:prstGeom>
          <a:solidFill>
            <a:schemeClr val="bg2"/>
          </a:solidFill>
          <a:ln/>
        </p:spPr>
      </p:sp>
      <p:sp>
        <p:nvSpPr>
          <p:cNvPr id="5" name="Stage 1 number"/>
          <p:cNvSpPr/>
          <p:nvPr/>
        </p:nvSpPr>
        <p:spPr>
          <a:xfrm>
            <a:off x="914400" y="2468880"/>
            <a:ext cx="548640" cy="548640"/>
          </a:xfrm>
          <a:prstGeom prst="ellipse">
            <a:avLst/>
          </a:prstGeom>
          <a:solidFill>
            <a:schemeClr val="tx1"/>
          </a:solidFill>
          <a:ln/>
        </p:spPr>
      </p:sp>
      <p:sp>
        <p:nvSpPr>
          <p:cNvPr id="6" name="Stage 1 number label"/>
          <p:cNvSpPr txBox="1"/>
          <p:nvPr/>
        </p:nvSpPr>
        <p:spPr>
          <a:xfrm>
            <a:off x="914400" y="2468880"/>
            <a:ext cx="548640" cy="548640"/>
          </a:xfrm>
          <a:prstGeom prst="rect">
            <a:avLst/>
          </a:prstGeom>
          <a:noFill/>
          <a:ln/>
        </p:spPr>
        <p:txBody>
          <a:bodyPr wrap="square" lIns="0" tIns="0" rIns="0" bIns="0" rtlCol="0" anchor="ctr"/>
          <a:lstStyle/>
          <a:p>
            <a:pPr algn="ctr" indent="0" marL="0">
              <a:buNone/>
            </a:pPr>
            <a:r>
              <a:rPr lang="en-US" sz="2200" b="1" dirty="0">
                <a:solidFill>
                  <a:schemeClr val="bg1"/>
                </a:solidFill>
              </a:rPr>
              <a:t>1</a:t>
            </a:r>
            <a:endParaRPr lang="en-US" sz="2200" dirty="0"/>
          </a:p>
        </p:txBody>
      </p:sp>
      <p:sp>
        <p:nvSpPr>
          <p:cNvPr id="7" name="Stage 1 title"/>
          <p:cNvSpPr txBox="1"/>
          <p:nvPr/>
        </p:nvSpPr>
        <p:spPr>
          <a:xfrm>
            <a:off x="914400" y="3246120"/>
            <a:ext cx="1965960" cy="457200"/>
          </a:xfrm>
          <a:prstGeom prst="rect">
            <a:avLst/>
          </a:prstGeom>
          <a:noFill/>
          <a:ln/>
        </p:spPr>
        <p:txBody>
          <a:bodyPr wrap="square" lIns="0" tIns="0" rIns="0" bIns="0" rtlCol="0" anchor="ctr"/>
          <a:lstStyle/>
          <a:p>
            <a:pPr indent="0" marL="0">
              <a:buNone/>
            </a:pPr>
            <a:r>
              <a:rPr lang="en-US" sz="2200" b="1" dirty="0">
                <a:solidFill>
                  <a:schemeClr val="tx1"/>
                </a:solidFill>
              </a:rPr>
              <a:t>Read</a:t>
            </a:r>
            <a:endParaRPr lang="en-US" sz="2200" dirty="0"/>
          </a:p>
        </p:txBody>
      </p:sp>
      <p:sp>
        <p:nvSpPr>
          <p:cNvPr id="8" name="Stage 1 text"/>
          <p:cNvSpPr txBox="1"/>
          <p:nvPr/>
        </p:nvSpPr>
        <p:spPr>
          <a:xfrm>
            <a:off x="914400" y="3794760"/>
            <a:ext cx="1965960" cy="1097280"/>
          </a:xfrm>
          <a:prstGeom prst="rect">
            <a:avLst/>
          </a:prstGeom>
          <a:noFill/>
          <a:ln/>
        </p:spPr>
        <p:txBody>
          <a:bodyPr wrap="square" lIns="0" tIns="0" rIns="0" bIns="0" rtlCol="0" anchor="t"/>
          <a:lstStyle/>
          <a:p>
            <a:pPr indent="0" marL="0">
              <a:buNone/>
            </a:pPr>
            <a:r>
              <a:rPr lang="en-US" sz="1600" dirty="0">
                <a:solidFill>
                  <a:schemeClr val="tx1"/>
                </a:solidFill>
              </a:rPr>
              <a:t>Each Excel row is read as one scenario</a:t>
            </a:r>
            <a:endParaRPr lang="en-US" sz="1600" dirty="0"/>
          </a:p>
        </p:txBody>
      </p:sp>
      <p:sp>
        <p:nvSpPr>
          <p:cNvPr id="9" name="Arrow 1"/>
          <p:cNvSpPr txBox="1"/>
          <p:nvPr/>
        </p:nvSpPr>
        <p:spPr>
          <a:xfrm>
            <a:off x="3154680" y="3383280"/>
            <a:ext cx="274320" cy="457200"/>
          </a:xfrm>
          <a:prstGeom prst="rect">
            <a:avLst/>
          </a:prstGeom>
          <a:noFill/>
          <a:ln/>
        </p:spPr>
        <p:txBody>
          <a:bodyPr wrap="square" lIns="0" tIns="0" rIns="0" bIns="0" rtlCol="0" anchor="ctr"/>
          <a:lstStyle/>
          <a:p>
            <a:pPr algn="ctr" indent="0" marL="0">
              <a:buNone/>
            </a:pPr>
            <a:r>
              <a:rPr lang="en-US" sz="2000" b="1" dirty="0">
                <a:solidFill>
                  <a:schemeClr val="accent2"/>
                </a:solidFill>
              </a:rPr>
              <a:t>→</a:t>
            </a:r>
            <a:endParaRPr lang="en-US" sz="2000" dirty="0"/>
          </a:p>
        </p:txBody>
      </p:sp>
      <p:sp>
        <p:nvSpPr>
          <p:cNvPr id="10" name="Stage 2 card"/>
          <p:cNvSpPr/>
          <p:nvPr/>
        </p:nvSpPr>
        <p:spPr>
          <a:xfrm>
            <a:off x="3429000" y="2194560"/>
            <a:ext cx="2514600" cy="2834640"/>
          </a:xfrm>
          <a:prstGeom prst="roundRect">
            <a:avLst>
              <a:gd name="adj" fmla="val 3636"/>
            </a:avLst>
          </a:prstGeom>
          <a:solidFill>
            <a:schemeClr val="bg2"/>
          </a:solidFill>
          <a:ln/>
        </p:spPr>
      </p:sp>
      <p:sp>
        <p:nvSpPr>
          <p:cNvPr id="11" name="Stage 2 number"/>
          <p:cNvSpPr/>
          <p:nvPr/>
        </p:nvSpPr>
        <p:spPr>
          <a:xfrm>
            <a:off x="3703320" y="2468880"/>
            <a:ext cx="548640" cy="548640"/>
          </a:xfrm>
          <a:prstGeom prst="ellipse">
            <a:avLst/>
          </a:prstGeom>
          <a:solidFill>
            <a:schemeClr val="tx1"/>
          </a:solidFill>
          <a:ln/>
        </p:spPr>
      </p:sp>
      <p:sp>
        <p:nvSpPr>
          <p:cNvPr id="12" name="Stage 2 number label"/>
          <p:cNvSpPr txBox="1"/>
          <p:nvPr/>
        </p:nvSpPr>
        <p:spPr>
          <a:xfrm>
            <a:off x="3703320" y="2468880"/>
            <a:ext cx="548640" cy="548640"/>
          </a:xfrm>
          <a:prstGeom prst="rect">
            <a:avLst/>
          </a:prstGeom>
          <a:noFill/>
          <a:ln/>
        </p:spPr>
        <p:txBody>
          <a:bodyPr wrap="square" lIns="0" tIns="0" rIns="0" bIns="0" rtlCol="0" anchor="ctr"/>
          <a:lstStyle/>
          <a:p>
            <a:pPr algn="ctr" indent="0" marL="0">
              <a:buNone/>
            </a:pPr>
            <a:r>
              <a:rPr lang="en-US" sz="2200" b="1" dirty="0">
                <a:solidFill>
                  <a:schemeClr val="bg1"/>
                </a:solidFill>
              </a:rPr>
              <a:t>2</a:t>
            </a:r>
            <a:endParaRPr lang="en-US" sz="2200" dirty="0"/>
          </a:p>
        </p:txBody>
      </p:sp>
      <p:sp>
        <p:nvSpPr>
          <p:cNvPr id="13" name="Stage 2 title"/>
          <p:cNvSpPr txBox="1"/>
          <p:nvPr/>
        </p:nvSpPr>
        <p:spPr>
          <a:xfrm>
            <a:off x="3703320" y="3246120"/>
            <a:ext cx="1965960" cy="457200"/>
          </a:xfrm>
          <a:prstGeom prst="rect">
            <a:avLst/>
          </a:prstGeom>
          <a:noFill/>
          <a:ln/>
        </p:spPr>
        <p:txBody>
          <a:bodyPr wrap="square" lIns="0" tIns="0" rIns="0" bIns="0" rtlCol="0" anchor="ctr"/>
          <a:lstStyle/>
          <a:p>
            <a:pPr indent="0" marL="0">
              <a:buNone/>
            </a:pPr>
            <a:r>
              <a:rPr lang="en-US" sz="2200" b="1" dirty="0">
                <a:solidFill>
                  <a:schemeClr val="tx1"/>
                </a:solidFill>
              </a:rPr>
              <a:t>Map</a:t>
            </a:r>
            <a:endParaRPr lang="en-US" sz="2200" dirty="0"/>
          </a:p>
        </p:txBody>
      </p:sp>
      <p:sp>
        <p:nvSpPr>
          <p:cNvPr id="14" name="Stage 2 text"/>
          <p:cNvSpPr txBox="1"/>
          <p:nvPr/>
        </p:nvSpPr>
        <p:spPr>
          <a:xfrm>
            <a:off x="3703320" y="3794760"/>
            <a:ext cx="1965960" cy="1097280"/>
          </a:xfrm>
          <a:prstGeom prst="rect">
            <a:avLst/>
          </a:prstGeom>
          <a:noFill/>
          <a:ln/>
        </p:spPr>
        <p:txBody>
          <a:bodyPr wrap="square" lIns="0" tIns="0" rIns="0" bIns="0" rtlCol="0" anchor="t"/>
          <a:lstStyle/>
          <a:p>
            <a:pPr indent="0" marL="0">
              <a:buNone/>
            </a:pPr>
            <a:r>
              <a:rPr lang="en-US" sz="1600" dirty="0">
                <a:solidFill>
                  <a:schemeClr val="tx1"/>
                </a:solidFill>
              </a:rPr>
              <a:t>Row values fill one fixed test flow</a:t>
            </a:r>
            <a:endParaRPr lang="en-US" sz="1600" dirty="0"/>
          </a:p>
        </p:txBody>
      </p:sp>
      <p:sp>
        <p:nvSpPr>
          <p:cNvPr id="15" name="Arrow 2"/>
          <p:cNvSpPr txBox="1"/>
          <p:nvPr/>
        </p:nvSpPr>
        <p:spPr>
          <a:xfrm>
            <a:off x="5943600" y="3383280"/>
            <a:ext cx="274320" cy="457200"/>
          </a:xfrm>
          <a:prstGeom prst="rect">
            <a:avLst/>
          </a:prstGeom>
          <a:noFill/>
          <a:ln/>
        </p:spPr>
        <p:txBody>
          <a:bodyPr wrap="square" lIns="0" tIns="0" rIns="0" bIns="0" rtlCol="0" anchor="ctr"/>
          <a:lstStyle/>
          <a:p>
            <a:pPr algn="ctr" indent="0" marL="0">
              <a:buNone/>
            </a:pPr>
            <a:r>
              <a:rPr lang="en-US" sz="2000" b="1" dirty="0">
                <a:solidFill>
                  <a:schemeClr val="accent2"/>
                </a:solidFill>
              </a:rPr>
              <a:t>→</a:t>
            </a:r>
            <a:endParaRPr lang="en-US" sz="2000" dirty="0"/>
          </a:p>
        </p:txBody>
      </p:sp>
      <p:sp>
        <p:nvSpPr>
          <p:cNvPr id="16" name="Stage 3 card"/>
          <p:cNvSpPr/>
          <p:nvPr/>
        </p:nvSpPr>
        <p:spPr>
          <a:xfrm>
            <a:off x="6217920" y="2194560"/>
            <a:ext cx="2514600" cy="2834640"/>
          </a:xfrm>
          <a:prstGeom prst="roundRect">
            <a:avLst>
              <a:gd name="adj" fmla="val 3636"/>
            </a:avLst>
          </a:prstGeom>
          <a:solidFill>
            <a:schemeClr val="accent3"/>
          </a:solidFill>
          <a:ln/>
        </p:spPr>
      </p:sp>
      <p:sp>
        <p:nvSpPr>
          <p:cNvPr id="17" name="Stage 3 number"/>
          <p:cNvSpPr/>
          <p:nvPr/>
        </p:nvSpPr>
        <p:spPr>
          <a:xfrm>
            <a:off x="6492240" y="2468880"/>
            <a:ext cx="548640" cy="548640"/>
          </a:xfrm>
          <a:prstGeom prst="ellipse">
            <a:avLst/>
          </a:prstGeom>
          <a:solidFill>
            <a:schemeClr val="tx1"/>
          </a:solidFill>
          <a:ln/>
        </p:spPr>
      </p:sp>
      <p:sp>
        <p:nvSpPr>
          <p:cNvPr id="18" name="Stage 3 number label"/>
          <p:cNvSpPr txBox="1"/>
          <p:nvPr/>
        </p:nvSpPr>
        <p:spPr>
          <a:xfrm>
            <a:off x="6492240" y="2468880"/>
            <a:ext cx="548640" cy="548640"/>
          </a:xfrm>
          <a:prstGeom prst="rect">
            <a:avLst/>
          </a:prstGeom>
          <a:noFill/>
          <a:ln/>
        </p:spPr>
        <p:txBody>
          <a:bodyPr wrap="square" lIns="0" tIns="0" rIns="0" bIns="0" rtlCol="0" anchor="ctr"/>
          <a:lstStyle/>
          <a:p>
            <a:pPr algn="ctr" indent="0" marL="0">
              <a:buNone/>
            </a:pPr>
            <a:r>
              <a:rPr lang="en-US" sz="2200" b="1" dirty="0">
                <a:solidFill>
                  <a:schemeClr val="bg1"/>
                </a:solidFill>
              </a:rPr>
              <a:t>3</a:t>
            </a:r>
            <a:endParaRPr lang="en-US" sz="2200" dirty="0"/>
          </a:p>
        </p:txBody>
      </p:sp>
      <p:sp>
        <p:nvSpPr>
          <p:cNvPr id="19" name="Stage 3 title"/>
          <p:cNvSpPr txBox="1"/>
          <p:nvPr/>
        </p:nvSpPr>
        <p:spPr>
          <a:xfrm>
            <a:off x="6492240" y="3246120"/>
            <a:ext cx="1965960" cy="457200"/>
          </a:xfrm>
          <a:prstGeom prst="rect">
            <a:avLst/>
          </a:prstGeom>
          <a:noFill/>
          <a:ln/>
        </p:spPr>
        <p:txBody>
          <a:bodyPr wrap="square" lIns="0" tIns="0" rIns="0" bIns="0" rtlCol="0" anchor="ctr"/>
          <a:lstStyle/>
          <a:p>
            <a:pPr indent="0" marL="0">
              <a:buNone/>
            </a:pPr>
            <a:r>
              <a:rPr lang="en-US" sz="2200" b="1" dirty="0">
                <a:solidFill>
                  <a:schemeClr val="tx1"/>
                </a:solidFill>
              </a:rPr>
              <a:t>Review</a:t>
            </a:r>
            <a:endParaRPr lang="en-US" sz="2200" dirty="0"/>
          </a:p>
        </p:txBody>
      </p:sp>
      <p:sp>
        <p:nvSpPr>
          <p:cNvPr id="20" name="Stage 3 text"/>
          <p:cNvSpPr txBox="1"/>
          <p:nvPr/>
        </p:nvSpPr>
        <p:spPr>
          <a:xfrm>
            <a:off x="6492240" y="3794760"/>
            <a:ext cx="1965960" cy="1097280"/>
          </a:xfrm>
          <a:prstGeom prst="rect">
            <a:avLst/>
          </a:prstGeom>
          <a:noFill/>
          <a:ln/>
        </p:spPr>
        <p:txBody>
          <a:bodyPr wrap="square" lIns="0" tIns="0" rIns="0" bIns="0" rtlCol="0" anchor="t"/>
          <a:lstStyle/>
          <a:p>
            <a:pPr indent="0" marL="0">
              <a:buNone/>
            </a:pPr>
            <a:r>
              <a:rPr lang="en-US" sz="1600" dirty="0">
                <a:solidFill>
                  <a:schemeClr val="tx1"/>
                </a:solidFill>
              </a:rPr>
              <a:t>A human approves a full dry run first</a:t>
            </a:r>
            <a:endParaRPr lang="en-US" sz="1600" dirty="0"/>
          </a:p>
        </p:txBody>
      </p:sp>
      <p:sp>
        <p:nvSpPr>
          <p:cNvPr id="21" name="Arrow 3"/>
          <p:cNvSpPr txBox="1"/>
          <p:nvPr/>
        </p:nvSpPr>
        <p:spPr>
          <a:xfrm>
            <a:off x="8732520" y="3383280"/>
            <a:ext cx="274320" cy="457200"/>
          </a:xfrm>
          <a:prstGeom prst="rect">
            <a:avLst/>
          </a:prstGeom>
          <a:noFill/>
          <a:ln/>
        </p:spPr>
        <p:txBody>
          <a:bodyPr wrap="square" lIns="0" tIns="0" rIns="0" bIns="0" rtlCol="0" anchor="ctr"/>
          <a:lstStyle/>
          <a:p>
            <a:pPr algn="ctr" indent="0" marL="0">
              <a:buNone/>
            </a:pPr>
            <a:r>
              <a:rPr lang="en-US" sz="2000" b="1" dirty="0">
                <a:solidFill>
                  <a:schemeClr val="accent2"/>
                </a:solidFill>
              </a:rPr>
              <a:t>→</a:t>
            </a:r>
            <a:endParaRPr lang="en-US" sz="2000" dirty="0"/>
          </a:p>
        </p:txBody>
      </p:sp>
      <p:sp>
        <p:nvSpPr>
          <p:cNvPr id="22" name="Stage 4 card"/>
          <p:cNvSpPr/>
          <p:nvPr/>
        </p:nvSpPr>
        <p:spPr>
          <a:xfrm>
            <a:off x="9006840" y="2194560"/>
            <a:ext cx="2514600" cy="2834640"/>
          </a:xfrm>
          <a:prstGeom prst="roundRect">
            <a:avLst>
              <a:gd name="adj" fmla="val 3636"/>
            </a:avLst>
          </a:prstGeom>
          <a:solidFill>
            <a:schemeClr val="bg2"/>
          </a:solidFill>
          <a:ln/>
        </p:spPr>
      </p:sp>
      <p:sp>
        <p:nvSpPr>
          <p:cNvPr id="23" name="Stage 4 number"/>
          <p:cNvSpPr/>
          <p:nvPr/>
        </p:nvSpPr>
        <p:spPr>
          <a:xfrm>
            <a:off x="9281160" y="2468880"/>
            <a:ext cx="548640" cy="548640"/>
          </a:xfrm>
          <a:prstGeom prst="ellipse">
            <a:avLst/>
          </a:prstGeom>
          <a:solidFill>
            <a:schemeClr val="tx1"/>
          </a:solidFill>
          <a:ln/>
        </p:spPr>
      </p:sp>
      <p:sp>
        <p:nvSpPr>
          <p:cNvPr id="24" name="Stage 4 number label"/>
          <p:cNvSpPr txBox="1"/>
          <p:nvPr/>
        </p:nvSpPr>
        <p:spPr>
          <a:xfrm>
            <a:off x="9281160" y="2468880"/>
            <a:ext cx="548640" cy="548640"/>
          </a:xfrm>
          <a:prstGeom prst="rect">
            <a:avLst/>
          </a:prstGeom>
          <a:noFill/>
          <a:ln/>
        </p:spPr>
        <p:txBody>
          <a:bodyPr wrap="square" lIns="0" tIns="0" rIns="0" bIns="0" rtlCol="0" anchor="ctr"/>
          <a:lstStyle/>
          <a:p>
            <a:pPr algn="ctr" indent="0" marL="0">
              <a:buNone/>
            </a:pPr>
            <a:r>
              <a:rPr lang="en-US" sz="2200" b="1" dirty="0">
                <a:solidFill>
                  <a:schemeClr val="bg1"/>
                </a:solidFill>
              </a:rPr>
              <a:t>4</a:t>
            </a:r>
            <a:endParaRPr lang="en-US" sz="2200" dirty="0"/>
          </a:p>
        </p:txBody>
      </p:sp>
      <p:sp>
        <p:nvSpPr>
          <p:cNvPr id="25" name="Stage 4 title"/>
          <p:cNvSpPr txBox="1"/>
          <p:nvPr/>
        </p:nvSpPr>
        <p:spPr>
          <a:xfrm>
            <a:off x="9281160" y="3246120"/>
            <a:ext cx="1965960" cy="457200"/>
          </a:xfrm>
          <a:prstGeom prst="rect">
            <a:avLst/>
          </a:prstGeom>
          <a:noFill/>
          <a:ln/>
        </p:spPr>
        <p:txBody>
          <a:bodyPr wrap="square" lIns="0" tIns="0" rIns="0" bIns="0" rtlCol="0" anchor="ctr"/>
          <a:lstStyle/>
          <a:p>
            <a:pPr indent="0" marL="0">
              <a:buNone/>
            </a:pPr>
            <a:r>
              <a:rPr lang="en-US" sz="2200" b="1" dirty="0">
                <a:solidFill>
                  <a:schemeClr val="tx1"/>
                </a:solidFill>
              </a:rPr>
              <a:t>Create</a:t>
            </a:r>
            <a:endParaRPr lang="en-US" sz="2200" dirty="0"/>
          </a:p>
        </p:txBody>
      </p:sp>
      <p:sp>
        <p:nvSpPr>
          <p:cNvPr id="26" name="Stage 4 text"/>
          <p:cNvSpPr txBox="1"/>
          <p:nvPr/>
        </p:nvSpPr>
        <p:spPr>
          <a:xfrm>
            <a:off x="9281160" y="3794760"/>
            <a:ext cx="1965960" cy="1097280"/>
          </a:xfrm>
          <a:prstGeom prst="rect">
            <a:avLst/>
          </a:prstGeom>
          <a:noFill/>
          <a:ln/>
        </p:spPr>
        <p:txBody>
          <a:bodyPr wrap="square" lIns="0" tIns="0" rIns="0" bIns="0" rtlCol="0" anchor="t"/>
          <a:lstStyle/>
          <a:p>
            <a:pPr indent="0" marL="0">
              <a:buNone/>
            </a:pPr>
            <a:r>
              <a:rPr lang="en-US" sz="1600" dirty="0">
                <a:solidFill>
                  <a:schemeClr val="tx1"/>
                </a:solidFill>
              </a:rPr>
              <a:t>Approved cases are written to Trackspace</a:t>
            </a:r>
            <a:endParaRPr lang="en-US" sz="1600" dirty="0"/>
          </a:p>
        </p:txBody>
      </p:sp>
      <p:sp>
        <p:nvSpPr>
          <p:cNvPr id="27" name="Fields caption"/>
          <p:cNvSpPr txBox="1"/>
          <p:nvPr/>
        </p:nvSpPr>
        <p:spPr>
          <a:xfrm>
            <a:off x="640080" y="5440680"/>
            <a:ext cx="10881360" cy="457200"/>
          </a:xfrm>
          <a:prstGeom prst="rect">
            <a:avLst/>
          </a:prstGeom>
          <a:noFill/>
          <a:ln/>
        </p:spPr>
        <p:txBody>
          <a:bodyPr wrap="square" lIns="0" tIns="0" rIns="0" bIns="0" rtlCol="0" anchor="ctr"/>
          <a:lstStyle/>
          <a:p>
            <a:pPr indent="0" marL="0">
              <a:buNone/>
            </a:pPr>
            <a:r>
              <a:rPr lang="en-US" sz="1600" i="1" dirty="0">
                <a:solidFill>
                  <a:schemeClr val="tx1"/>
                </a:solidFill>
              </a:rPr>
              <a:t>Each case includes summary, description, 4 manual steps, assignee, test level, test case type and folder placement.</a:t>
            </a:r>
            <a:endParaRPr lang="en-US" sz="16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731520"/>
          </a:xfrm>
          <a:prstGeom prst="rect">
            <a:avLst/>
          </a:prstGeom>
          <a:noFill/>
          <a:ln/>
        </p:spPr>
        <p:txBody>
          <a:bodyPr wrap="square" lIns="0" tIns="0" rIns="0" bIns="0" rtlCol="0" anchor="ctr"/>
          <a:lstStyle/>
          <a:p>
            <a:pPr algn="l" indent="0" marL="0">
              <a:buNone/>
            </a:pPr>
            <a:r>
              <a:rPr lang="en-US" sz="3600" b="1" dirty="0">
                <a:solidFill>
                  <a:schemeClr val="tx1"/>
                </a:solidFill>
              </a:rPr>
              <a:t>Results: Time Saved at Scale</a:t>
            </a:r>
            <a:endParaRPr lang="en-US" sz="3600" dirty="0"/>
          </a:p>
        </p:txBody>
      </p:sp>
      <p:sp>
        <p:nvSpPr>
          <p:cNvPr id="3" name="Text 0"/>
          <p:cNvSpPr/>
          <p:nvPr>
            <p:ph idx="101" type="body" hasCustomPrompt="1"/>
          </p:nvPr>
        </p:nvSpPr>
        <p:spPr>
          <a:xfrm>
            <a:off x="640080" y="1188720"/>
            <a:ext cx="10881360" cy="411480"/>
          </a:xfrm>
          <a:prstGeom prst="rect">
            <a:avLst/>
          </a:prstGeom>
          <a:noFill/>
          <a:ln/>
        </p:spPr>
        <p:txBody>
          <a:bodyPr wrap="square" lIns="0" tIns="0" rIns="0" bIns="0" rtlCol="0" anchor="t"/>
          <a:lstStyle/>
          <a:p>
            <a:pPr indent="0" marL="0">
              <a:buNone/>
            </a:pPr>
            <a:r>
              <a:rPr lang="en-US" sz="1600" dirty="0">
                <a:solidFill>
                  <a:schemeClr val="tx2"/>
                </a:solidFill>
              </a:rPr>
              <a:t>Actual time to create 50 test cases vs estimated manual effort*</a:t>
            </a:r>
            <a:endParaRPr lang="en-US" sz="1600" dirty="0"/>
          </a:p>
        </p:txBody>
      </p:sp>
      <p:graphicFrame>
        <p:nvGraphicFramePr>
          <p:cNvPr id="4" name="Time comparison chart" descr=""/>
          <p:cNvGraphicFramePr/>
          <p:nvPr/>
        </p:nvGraphicFramePr>
        <p:xfrm>
          <a:off x="640080" y="1828800"/>
          <a:ext cx="5852160" cy="3886200"/>
        </p:xfrm>
        <a:graphic xmlns:a="http://schemas.openxmlformats.org/drawingml/2006/main">
          <a:graphicData uri="http://schemas.openxmlformats.org/drawingml/2006/chart">
            <c:chart xmlns:c="http://schemas.openxmlformats.org/drawingml/2006/chart" r:id="rId1"/>
          </a:graphicData>
        </a:graphic>
      </p:graphicFrame>
      <p:sp>
        <p:nvSpPr>
          <p:cNvPr id="5" name="Stat card 1"/>
          <p:cNvSpPr/>
          <p:nvPr/>
        </p:nvSpPr>
        <p:spPr>
          <a:xfrm>
            <a:off x="7040880" y="1828800"/>
            <a:ext cx="4480560" cy="1143000"/>
          </a:xfrm>
          <a:prstGeom prst="roundRect">
            <a:avLst>
              <a:gd name="adj" fmla="val 8000"/>
            </a:avLst>
          </a:prstGeom>
          <a:solidFill>
            <a:schemeClr val="tx1"/>
          </a:solidFill>
          <a:ln/>
        </p:spPr>
      </p:sp>
      <p:sp>
        <p:nvSpPr>
          <p:cNvPr id="6" name="Stat value 1"/>
          <p:cNvSpPr txBox="1"/>
          <p:nvPr/>
        </p:nvSpPr>
        <p:spPr>
          <a:xfrm>
            <a:off x="7315200" y="1828800"/>
            <a:ext cx="1920240" cy="1143000"/>
          </a:xfrm>
          <a:prstGeom prst="rect">
            <a:avLst/>
          </a:prstGeom>
          <a:noFill/>
          <a:ln/>
        </p:spPr>
        <p:txBody>
          <a:bodyPr wrap="square" lIns="0" tIns="0" rIns="0" bIns="0" rtlCol="0" anchor="ctr"/>
          <a:lstStyle/>
          <a:p>
            <a:pPr indent="0" marL="0">
              <a:buNone/>
            </a:pPr>
            <a:r>
              <a:rPr lang="en-US" sz="3600" b="1" dirty="0">
                <a:solidFill>
                  <a:schemeClr val="bg1"/>
                </a:solidFill>
              </a:rPr>
              <a:t>~20 min</a:t>
            </a:r>
            <a:endParaRPr lang="en-US" sz="3600" dirty="0"/>
          </a:p>
        </p:txBody>
      </p:sp>
      <p:sp>
        <p:nvSpPr>
          <p:cNvPr id="7" name="Stat label 1"/>
          <p:cNvSpPr txBox="1"/>
          <p:nvPr/>
        </p:nvSpPr>
        <p:spPr>
          <a:xfrm>
            <a:off x="9281160" y="1828800"/>
            <a:ext cx="2011680" cy="1143000"/>
          </a:xfrm>
          <a:prstGeom prst="rect">
            <a:avLst/>
          </a:prstGeom>
          <a:noFill/>
          <a:ln/>
        </p:spPr>
        <p:txBody>
          <a:bodyPr wrap="square" lIns="0" tIns="0" rIns="0" bIns="0" rtlCol="0" anchor="ctr"/>
          <a:lstStyle/>
          <a:p>
            <a:pPr indent="0" marL="0">
              <a:buNone/>
            </a:pPr>
            <a:r>
              <a:rPr lang="en-US" sz="1400" dirty="0">
                <a:solidFill>
                  <a:schemeClr val="accent3"/>
                </a:solidFill>
              </a:rPr>
              <a:t>to create 48 cases after the dry run</a:t>
            </a:r>
            <a:endParaRPr lang="en-US" sz="1400" dirty="0"/>
          </a:p>
        </p:txBody>
      </p:sp>
      <p:sp>
        <p:nvSpPr>
          <p:cNvPr id="8" name="Stat card 2"/>
          <p:cNvSpPr/>
          <p:nvPr/>
        </p:nvSpPr>
        <p:spPr>
          <a:xfrm>
            <a:off x="7040880" y="3200400"/>
            <a:ext cx="4480560" cy="1143000"/>
          </a:xfrm>
          <a:prstGeom prst="roundRect">
            <a:avLst>
              <a:gd name="adj" fmla="val 8000"/>
            </a:avLst>
          </a:prstGeom>
          <a:solidFill>
            <a:schemeClr val="bg2"/>
          </a:solidFill>
          <a:ln/>
        </p:spPr>
      </p:sp>
      <p:sp>
        <p:nvSpPr>
          <p:cNvPr id="9" name="Stat value 2"/>
          <p:cNvSpPr txBox="1"/>
          <p:nvPr/>
        </p:nvSpPr>
        <p:spPr>
          <a:xfrm>
            <a:off x="7315200" y="3200400"/>
            <a:ext cx="1920240" cy="1143000"/>
          </a:xfrm>
          <a:prstGeom prst="rect">
            <a:avLst/>
          </a:prstGeom>
          <a:noFill/>
          <a:ln/>
        </p:spPr>
        <p:txBody>
          <a:bodyPr wrap="square" lIns="0" tIns="0" rIns="0" bIns="0" rtlCol="0" anchor="ctr"/>
          <a:lstStyle/>
          <a:p>
            <a:pPr indent="0" marL="0">
              <a:buNone/>
            </a:pPr>
            <a:r>
              <a:rPr lang="en-US" sz="3600" b="1" dirty="0">
                <a:solidFill>
                  <a:schemeClr val="accent2"/>
                </a:solidFill>
              </a:rPr>
              <a:t>~1 hr</a:t>
            </a:r>
            <a:endParaRPr lang="en-US" sz="3600" dirty="0"/>
          </a:p>
        </p:txBody>
      </p:sp>
      <p:sp>
        <p:nvSpPr>
          <p:cNvPr id="10" name="Stat label 2"/>
          <p:cNvSpPr txBox="1"/>
          <p:nvPr/>
        </p:nvSpPr>
        <p:spPr>
          <a:xfrm>
            <a:off x="9281160" y="3200400"/>
            <a:ext cx="2011680" cy="1143000"/>
          </a:xfrm>
          <a:prstGeom prst="rect">
            <a:avLst/>
          </a:prstGeom>
          <a:noFill/>
          <a:ln/>
        </p:spPr>
        <p:txBody>
          <a:bodyPr wrap="square" lIns="0" tIns="0" rIns="0" bIns="0" rtlCol="0" anchor="ctr"/>
          <a:lstStyle/>
          <a:p>
            <a:pPr indent="0" marL="0">
              <a:buNone/>
            </a:pPr>
            <a:r>
              <a:rPr lang="en-US" sz="1400" dirty="0">
                <a:solidFill>
                  <a:schemeClr val="tx1"/>
                </a:solidFill>
              </a:rPr>
              <a:t>for the first 2 cases, incl. setup and fixes</a:t>
            </a:r>
            <a:endParaRPr lang="en-US" sz="1400" dirty="0"/>
          </a:p>
        </p:txBody>
      </p:sp>
      <p:sp>
        <p:nvSpPr>
          <p:cNvPr id="11" name="Stat card 3"/>
          <p:cNvSpPr/>
          <p:nvPr/>
        </p:nvSpPr>
        <p:spPr>
          <a:xfrm>
            <a:off x="7040880" y="4572000"/>
            <a:ext cx="4480560" cy="1143000"/>
          </a:xfrm>
          <a:prstGeom prst="roundRect">
            <a:avLst>
              <a:gd name="adj" fmla="val 8000"/>
            </a:avLst>
          </a:prstGeom>
          <a:solidFill>
            <a:schemeClr val="bg2"/>
          </a:solidFill>
          <a:ln/>
        </p:spPr>
      </p:sp>
      <p:sp>
        <p:nvSpPr>
          <p:cNvPr id="12" name="Stat value 3"/>
          <p:cNvSpPr txBox="1"/>
          <p:nvPr/>
        </p:nvSpPr>
        <p:spPr>
          <a:xfrm>
            <a:off x="7315200" y="4572000"/>
            <a:ext cx="1920240" cy="1143000"/>
          </a:xfrm>
          <a:prstGeom prst="rect">
            <a:avLst/>
          </a:prstGeom>
          <a:noFill/>
          <a:ln/>
        </p:spPr>
        <p:txBody>
          <a:bodyPr wrap="square" lIns="0" tIns="0" rIns="0" bIns="0" rtlCol="0" anchor="ctr"/>
          <a:lstStyle/>
          <a:p>
            <a:pPr indent="0" marL="0">
              <a:buNone/>
            </a:pPr>
            <a:r>
              <a:rPr lang="en-US" sz="3600" b="1" dirty="0">
                <a:solidFill>
                  <a:schemeClr val="accent2"/>
                </a:solidFill>
              </a:rPr>
              <a:t>~80%</a:t>
            </a:r>
            <a:endParaRPr lang="en-US" sz="3600" dirty="0"/>
          </a:p>
        </p:txBody>
      </p:sp>
      <p:sp>
        <p:nvSpPr>
          <p:cNvPr id="13" name="Stat label 3"/>
          <p:cNvSpPr txBox="1"/>
          <p:nvPr/>
        </p:nvSpPr>
        <p:spPr>
          <a:xfrm>
            <a:off x="9281160" y="4572000"/>
            <a:ext cx="2011680" cy="1143000"/>
          </a:xfrm>
          <a:prstGeom prst="rect">
            <a:avLst/>
          </a:prstGeom>
          <a:noFill/>
          <a:ln/>
        </p:spPr>
        <p:txBody>
          <a:bodyPr wrap="square" lIns="0" tIns="0" rIns="0" bIns="0" rtlCol="0" anchor="ctr"/>
          <a:lstStyle/>
          <a:p>
            <a:pPr indent="0" marL="0">
              <a:buNone/>
            </a:pPr>
            <a:r>
              <a:rPr lang="en-US" sz="1400" dirty="0">
                <a:solidFill>
                  <a:schemeClr val="tx1"/>
                </a:solidFill>
              </a:rPr>
              <a:t>less total time than the manual estimate</a:t>
            </a:r>
            <a:endParaRPr lang="en-US" sz="1400" dirty="0"/>
          </a:p>
        </p:txBody>
      </p:sp>
      <p:sp>
        <p:nvSpPr>
          <p:cNvPr id="14" name="Estimate footnote"/>
          <p:cNvSpPr txBox="1"/>
          <p:nvPr/>
        </p:nvSpPr>
        <p:spPr>
          <a:xfrm>
            <a:off x="640080" y="5989320"/>
            <a:ext cx="10424160" cy="411480"/>
          </a:xfrm>
          <a:prstGeom prst="rect">
            <a:avLst/>
          </a:prstGeom>
          <a:noFill/>
          <a:ln/>
        </p:spPr>
        <p:txBody>
          <a:bodyPr wrap="square" lIns="0" tIns="0" rIns="0" bIns="0" rtlCol="0" anchor="t"/>
          <a:lstStyle/>
          <a:p>
            <a:pPr indent="0" marL="0">
              <a:buNone/>
            </a:pPr>
            <a:r>
              <a:rPr lang="en-US" sz="1000" i="1" dirty="0">
                <a:solidFill>
                  <a:schemeClr val="tx2"/>
                </a:solidFill>
              </a:rPr>
              <a:t>*Manual effort is an estimate (~8 min per case, ~6.7 hrs for 50 cases). Actual: ~1 hr for the first 2 cases plus ~20 min for the remaining 48 (~1.3 hrs total), excluding dry-run time for the 48.</a:t>
            </a:r>
            <a:endParaRPr lang="en-US" sz="1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731520"/>
          </a:xfrm>
          <a:prstGeom prst="rect">
            <a:avLst/>
          </a:prstGeom>
          <a:noFill/>
          <a:ln/>
        </p:spPr>
        <p:txBody>
          <a:bodyPr wrap="square" lIns="0" tIns="0" rIns="0" bIns="0" rtlCol="0" anchor="ctr"/>
          <a:lstStyle/>
          <a:p>
            <a:pPr algn="l" indent="0" marL="0">
              <a:buNone/>
            </a:pPr>
            <a:r>
              <a:rPr lang="en-US" sz="3600" b="1" dirty="0">
                <a:solidFill>
                  <a:schemeClr val="bg1"/>
                </a:solidFill>
              </a:rPr>
              <a:t>Learnings and Next Steps</a:t>
            </a:r>
            <a:endParaRPr lang="en-US" sz="3600" dirty="0"/>
          </a:p>
        </p:txBody>
      </p:sp>
      <p:sp>
        <p:nvSpPr>
          <p:cNvPr id="3" name="Text 0"/>
          <p:cNvSpPr/>
          <p:nvPr>
            <p:ph idx="101" type="body" hasCustomPrompt="1"/>
          </p:nvPr>
        </p:nvSpPr>
        <p:spPr>
          <a:xfrm>
            <a:off x="640080" y="1188720"/>
            <a:ext cx="10881360" cy="411480"/>
          </a:xfrm>
          <a:prstGeom prst="rect">
            <a:avLst/>
          </a:prstGeom>
          <a:noFill/>
          <a:ln/>
        </p:spPr>
        <p:txBody>
          <a:bodyPr wrap="square" lIns="0" tIns="0" rIns="0" bIns="0" rtlCol="0" anchor="t"/>
          <a:lstStyle/>
          <a:p>
            <a:pPr indent="0" marL="0">
              <a:buNone/>
            </a:pPr>
            <a:r>
              <a:rPr lang="en-US" sz="1600" dirty="0">
                <a:solidFill>
                  <a:schemeClr val="accent3"/>
                </a:solidFill>
              </a:rPr>
              <a:t>The guardrails made the POC safe; reuse is the next step</a:t>
            </a:r>
            <a:endParaRPr lang="en-US" sz="1600" dirty="0"/>
          </a:p>
        </p:txBody>
      </p:sp>
      <p:sp>
        <p:nvSpPr>
          <p:cNvPr id="4" name="Learnings card"/>
          <p:cNvSpPr/>
          <p:nvPr/>
        </p:nvSpPr>
        <p:spPr>
          <a:xfrm>
            <a:off x="640080" y="2011680"/>
            <a:ext cx="5212080" cy="4023360"/>
          </a:xfrm>
          <a:prstGeom prst="roundRect">
            <a:avLst>
              <a:gd name="adj" fmla="val 2273"/>
            </a:avLst>
          </a:prstGeom>
          <a:solidFill>
            <a:schemeClr val="accent4"/>
          </a:solidFill>
          <a:ln/>
        </p:spPr>
      </p:sp>
      <p:sp>
        <p:nvSpPr>
          <p:cNvPr id="5" name="Learnings badge"/>
          <p:cNvSpPr/>
          <p:nvPr/>
        </p:nvSpPr>
        <p:spPr>
          <a:xfrm>
            <a:off x="1005840" y="2286000"/>
            <a:ext cx="548640" cy="548640"/>
          </a:xfrm>
          <a:prstGeom prst="ellipse">
            <a:avLst/>
          </a:prstGeom>
          <a:solidFill>
            <a:schemeClr val="accent2"/>
          </a:solidFill>
          <a:ln/>
        </p:spPr>
      </p:sp>
      <p:sp>
        <p:nvSpPr>
          <p:cNvPr id="6" name="Learnings badge label"/>
          <p:cNvSpPr txBox="1"/>
          <p:nvPr/>
        </p:nvSpPr>
        <p:spPr>
          <a:xfrm>
            <a:off x="1005840" y="2286000"/>
            <a:ext cx="548640" cy="548640"/>
          </a:xfrm>
          <a:prstGeom prst="rect">
            <a:avLst/>
          </a:prstGeom>
          <a:noFill/>
          <a:ln/>
        </p:spPr>
        <p:txBody>
          <a:bodyPr wrap="square" lIns="0" tIns="0" rIns="0" bIns="0" rtlCol="0" anchor="ctr"/>
          <a:lstStyle/>
          <a:p>
            <a:pPr algn="ctr" indent="0" marL="0">
              <a:buNone/>
            </a:pPr>
            <a:r>
              <a:rPr lang="en-US" sz="2200" b="1" dirty="0">
                <a:solidFill>
                  <a:schemeClr val="bg1"/>
                </a:solidFill>
              </a:rPr>
              <a:t>✓</a:t>
            </a:r>
            <a:endParaRPr lang="en-US" sz="2200" dirty="0"/>
          </a:p>
        </p:txBody>
      </p:sp>
      <p:sp>
        <p:nvSpPr>
          <p:cNvPr id="7" name="Learnings heading"/>
          <p:cNvSpPr txBox="1"/>
          <p:nvPr/>
        </p:nvSpPr>
        <p:spPr>
          <a:xfrm>
            <a:off x="1737360" y="2286000"/>
            <a:ext cx="3840480" cy="548640"/>
          </a:xfrm>
          <a:prstGeom prst="rect">
            <a:avLst/>
          </a:prstGeom>
          <a:noFill/>
          <a:ln/>
        </p:spPr>
        <p:txBody>
          <a:bodyPr wrap="square" lIns="0" tIns="0" rIns="0" bIns="0" rtlCol="0" anchor="ctr"/>
          <a:lstStyle/>
          <a:p>
            <a:pPr indent="0" marL="0">
              <a:buNone/>
            </a:pPr>
            <a:r>
              <a:rPr lang="en-US" sz="2200" b="1" dirty="0">
                <a:solidFill>
                  <a:schemeClr val="bg1"/>
                </a:solidFill>
              </a:rPr>
              <a:t>What the POC showed</a:t>
            </a:r>
            <a:endParaRPr lang="en-US" sz="2200" dirty="0"/>
          </a:p>
        </p:txBody>
      </p:sp>
      <p:sp>
        <p:nvSpPr>
          <p:cNvPr id="8" name="Learnings list"/>
          <p:cNvSpPr txBox="1"/>
          <p:nvPr/>
        </p:nvSpPr>
        <p:spPr>
          <a:xfrm>
            <a:off x="1005840" y="3108960"/>
            <a:ext cx="4480560" cy="2651760"/>
          </a:xfrm>
          <a:prstGeom prst="rect">
            <a:avLst/>
          </a:prstGeom>
          <a:noFill/>
          <a:ln/>
        </p:spPr>
        <p:txBody>
          <a:bodyPr wrap="square" lIns="0" tIns="0" rIns="0" bIns="0" rtlCol="0" anchor="t"/>
          <a:lstStyle/>
          <a:p>
            <a:pPr marL="342900" indent="-342900">
              <a:spcAft>
                <a:spcPts val="1400"/>
              </a:spcAft>
              <a:buSzPct val="100000"/>
              <a:buChar char="•"/>
            </a:pPr>
            <a:r>
              <a:rPr lang="en-US" sz="1600" dirty="0">
                <a:solidFill>
                  <a:schemeClr val="accent3"/>
                </a:solidFill>
              </a:rPr>
              <a:t>Malformed JSON in Excel cells was flagged before any case was created</a:t>
            </a:r>
            <a:endParaRPr lang="en-US" sz="1600" dirty="0"/>
          </a:p>
          <a:p>
            <a:pPr marL="342900" indent="-342900">
              <a:spcAft>
                <a:spcPts val="1400"/>
              </a:spcAft>
              <a:buSzPct val="100000"/>
              <a:buChar char="•"/>
            </a:pPr>
            <a:r>
              <a:rPr lang="en-US" sz="1600" dirty="0">
                <a:solidFill>
                  <a:schemeClr val="accent3"/>
                </a:solidFill>
              </a:rPr>
              <a:t>A duplicate-check flaw was caught by reviewing results, then fixed</a:t>
            </a:r>
            <a:endParaRPr lang="en-US" sz="1600" dirty="0"/>
          </a:p>
          <a:p>
            <a:pPr marL="342900" indent="-342900">
              <a:spcAft>
                <a:spcPts val="1400"/>
              </a:spcAft>
              <a:buSzPct val="100000"/>
              <a:buChar char="•"/>
            </a:pPr>
            <a:r>
              <a:rPr lang="en-US" sz="1600" dirty="0">
                <a:solidFill>
                  <a:schemeClr val="accent3"/>
                </a:solidFill>
              </a:rPr>
              <a:t>The dry-run gate kept every write under human control, with Trackspace checked after each batch</a:t>
            </a:r>
            <a:endParaRPr lang="en-US" sz="1600" dirty="0"/>
          </a:p>
        </p:txBody>
      </p:sp>
      <p:sp>
        <p:nvSpPr>
          <p:cNvPr id="9" name="Next steps card"/>
          <p:cNvSpPr/>
          <p:nvPr/>
        </p:nvSpPr>
        <p:spPr>
          <a:xfrm>
            <a:off x="6309360" y="2011680"/>
            <a:ext cx="5212080" cy="4023360"/>
          </a:xfrm>
          <a:prstGeom prst="roundRect">
            <a:avLst>
              <a:gd name="adj" fmla="val 2273"/>
            </a:avLst>
          </a:prstGeom>
          <a:solidFill>
            <a:schemeClr val="accent4"/>
          </a:solidFill>
          <a:ln/>
        </p:spPr>
      </p:sp>
      <p:sp>
        <p:nvSpPr>
          <p:cNvPr id="10" name="Next steps badge"/>
          <p:cNvSpPr/>
          <p:nvPr/>
        </p:nvSpPr>
        <p:spPr>
          <a:xfrm>
            <a:off x="6675120" y="2286000"/>
            <a:ext cx="548640" cy="548640"/>
          </a:xfrm>
          <a:prstGeom prst="ellipse">
            <a:avLst/>
          </a:prstGeom>
          <a:solidFill>
            <a:schemeClr val="accent2"/>
          </a:solidFill>
          <a:ln/>
        </p:spPr>
      </p:sp>
      <p:sp>
        <p:nvSpPr>
          <p:cNvPr id="11" name="Next steps badge label"/>
          <p:cNvSpPr txBox="1"/>
          <p:nvPr/>
        </p:nvSpPr>
        <p:spPr>
          <a:xfrm>
            <a:off x="6675120" y="2286000"/>
            <a:ext cx="548640" cy="548640"/>
          </a:xfrm>
          <a:prstGeom prst="rect">
            <a:avLst/>
          </a:prstGeom>
          <a:noFill/>
          <a:ln/>
        </p:spPr>
        <p:txBody>
          <a:bodyPr wrap="square" lIns="0" tIns="0" rIns="0" bIns="0" rtlCol="0" anchor="ctr"/>
          <a:lstStyle/>
          <a:p>
            <a:pPr algn="ctr" indent="0" marL="0">
              <a:buNone/>
            </a:pPr>
            <a:r>
              <a:rPr lang="en-US" sz="2200" b="1" dirty="0">
                <a:solidFill>
                  <a:schemeClr val="bg1"/>
                </a:solidFill>
              </a:rPr>
              <a:t>→</a:t>
            </a:r>
            <a:endParaRPr lang="en-US" sz="2200" dirty="0"/>
          </a:p>
        </p:txBody>
      </p:sp>
      <p:sp>
        <p:nvSpPr>
          <p:cNvPr id="12" name="Next steps heading"/>
          <p:cNvSpPr txBox="1"/>
          <p:nvPr/>
        </p:nvSpPr>
        <p:spPr>
          <a:xfrm>
            <a:off x="7406640" y="2286000"/>
            <a:ext cx="3840480" cy="548640"/>
          </a:xfrm>
          <a:prstGeom prst="rect">
            <a:avLst/>
          </a:prstGeom>
          <a:noFill/>
          <a:ln/>
        </p:spPr>
        <p:txBody>
          <a:bodyPr wrap="square" lIns="0" tIns="0" rIns="0" bIns="0" rtlCol="0" anchor="ctr"/>
          <a:lstStyle/>
          <a:p>
            <a:pPr indent="0" marL="0">
              <a:buNone/>
            </a:pPr>
            <a:r>
              <a:rPr lang="en-US" sz="2200" b="1" dirty="0">
                <a:solidFill>
                  <a:schemeClr val="bg1"/>
                </a:solidFill>
              </a:rPr>
              <a:t>Next steps</a:t>
            </a:r>
            <a:endParaRPr lang="en-US" sz="2200" dirty="0"/>
          </a:p>
        </p:txBody>
      </p:sp>
      <p:sp>
        <p:nvSpPr>
          <p:cNvPr id="13" name="Next steps list"/>
          <p:cNvSpPr txBox="1"/>
          <p:nvPr/>
        </p:nvSpPr>
        <p:spPr>
          <a:xfrm>
            <a:off x="6675120" y="3108960"/>
            <a:ext cx="4480560" cy="2651760"/>
          </a:xfrm>
          <a:prstGeom prst="rect">
            <a:avLst/>
          </a:prstGeom>
          <a:noFill/>
          <a:ln/>
        </p:spPr>
        <p:txBody>
          <a:bodyPr wrap="square" lIns="0" tIns="0" rIns="0" bIns="0" rtlCol="0" anchor="t"/>
          <a:lstStyle/>
          <a:p>
            <a:pPr marL="342900" indent="-342900">
              <a:spcAft>
                <a:spcPts val="1400"/>
              </a:spcAft>
              <a:buSzPct val="100000"/>
              <a:buChar char="•"/>
            </a:pPr>
            <a:r>
              <a:rPr lang="en-US" sz="1600" dirty="0">
                <a:solidFill>
                  <a:schemeClr val="accent3"/>
                </a:solidFill>
              </a:rPr>
              <a:t>Save the tested script so every run behaves identically</a:t>
            </a:r>
            <a:endParaRPr lang="en-US" sz="1600" dirty="0"/>
          </a:p>
          <a:p>
            <a:pPr marL="342900" indent="-342900">
              <a:spcAft>
                <a:spcPts val="1400"/>
              </a:spcAft>
              <a:buSzPct val="100000"/>
              <a:buChar char="•"/>
            </a:pPr>
            <a:r>
              <a:rPr lang="en-US" sz="1600" dirty="0">
                <a:solidFill>
                  <a:schemeClr val="accent3"/>
                </a:solidFill>
              </a:rPr>
              <a:t>Generalize the skill to cover other API scenarios, not only session refresh</a:t>
            </a:r>
            <a:endParaRPr lang="en-US" sz="1600" dirty="0"/>
          </a:p>
          <a:p>
            <a:pPr marL="342900" indent="-342900">
              <a:spcAft>
                <a:spcPts val="1400"/>
              </a:spcAft>
              <a:buSzPct val="100000"/>
              <a:buChar char="•"/>
            </a:pPr>
            <a:r>
              <a:rPr lang="en-US" sz="1600" dirty="0">
                <a:solidFill>
                  <a:schemeClr val="accent3"/>
                </a:solidFill>
              </a:rPr>
              <a:t>Roll out the remaining suites in small, reviewed batches</a:t>
            </a:r>
            <a:endParaRPr lang="en-US" sz="16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theme/theme1.xml><?xml version="1.0" encoding="utf-8"?>
<a:theme xmlns:a="http://schemas.openxmlformats.org/drawingml/2006/main" name="POC Midnight">
  <a:themeElements>
    <a:clrScheme name="POC Midnight">
      <a:dk1>
        <a:srgbClr val="1E2761"/>
      </a:dk1>
      <a:lt1>
        <a:srgbClr val="FFFFFF"/>
      </a:lt1>
      <a:dk2>
        <a:srgbClr val="5B6B8C"/>
      </a:dk2>
      <a:lt2>
        <a:srgbClr val="F2F5FB"/>
      </a:lt2>
      <a:accent1>
        <a:srgbClr val="1E2761"/>
      </a:accent1>
      <a:accent2>
        <a:srgbClr val="1C7293"/>
      </a:accent2>
      <a:accent3>
        <a:srgbClr val="CADCFC"/>
      </a:accent3>
      <a:accent4>
        <a:srgbClr val="2C3A80"/>
      </a:accent4>
      <a:accent5>
        <a:srgbClr val="E3E7EF"/>
      </a:accent5>
      <a:accent6>
        <a:srgbClr val="8FB8DE"/>
      </a:accent6>
      <a:hlink>
        <a:srgbClr val="1C7293"/>
      </a:hlink>
      <a:folHlink>
        <a:srgbClr val="5B6B8C"/>
      </a:folHlink>
    </a:clrScheme>
    <a:fontScheme name="POC Midnigh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AI-Assisted Test Case Creation - POC</dc:title>
  <dc:subject>PptxGenJS Presentation</dc:subject>
  <dc:creator>QA Team</dc:creator>
  <cp:lastModifiedBy>QA Team</cp:lastModifiedBy>
  <cp:revision>1</cp:revision>
  <dcterms:created xsi:type="dcterms:W3CDTF">2026-10-10T10:49:11Z</dcterms:created>
  <dcterms:modified xsi:type="dcterms:W3CDTF">2026-10-10T10:49:11Z</dcterms:modified>
</cp:coreProperties>
</file>